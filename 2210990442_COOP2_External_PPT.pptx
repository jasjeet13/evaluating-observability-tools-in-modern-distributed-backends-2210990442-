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4" r:id="rId8"/>
    <p:sldId id="270" r:id="rId9"/>
    <p:sldId id="271" r:id="rId10"/>
    <p:sldId id="272" r:id="rId11"/>
    <p:sldId id="275" r:id="rId12"/>
    <p:sldId id="273"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92"/>
    <p:restoredTop sz="94631"/>
  </p:normalViewPr>
  <p:slideViewPr>
    <p:cSldViewPr snapToGrid="0">
      <p:cViewPr varScale="1">
        <p:scale>
          <a:sx n="121" d="100"/>
          <a:sy n="121" d="100"/>
        </p:scale>
        <p:origin x="176" y="2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5/19/26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5/19/26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IN" b="1"/>
              <a:t>Evaluating Observability Tools in Modern Distributed Backends</a:t>
            </a:r>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a:solidFill>
                  <a:srgbClr val="000000"/>
                </a:solidFill>
                <a:latin typeface="Times New Roman" panose="02020603050405020304" pitchFamily="18" charset="0"/>
                <a:ea typeface="MS PGothic"/>
                <a:cs typeface="Times New Roman" panose="02020603050405020304" pitchFamily="18" charset="0"/>
              </a:rPr>
            </a:br>
            <a:r>
              <a:rPr lang="en-US" sz="2000" spc="-1">
                <a:solidFill>
                  <a:srgbClr val="000000"/>
                </a:solidFill>
                <a:latin typeface="Times New Roman" panose="02020603050405020304" pitchFamily="18" charset="0"/>
                <a:ea typeface="MS PGothic"/>
                <a:cs typeface="Times New Roman" panose="02020603050405020304" pitchFamily="18" charset="0"/>
              </a:rPr>
              <a:t>Jasjeet Kaur Saini</a:t>
            </a:r>
          </a:p>
          <a:p>
            <a:pPr algn="ctr">
              <a:lnSpc>
                <a:spcPct val="100000"/>
              </a:lnSpc>
              <a:spcBef>
                <a:spcPts val="400"/>
              </a:spcBef>
            </a:pPr>
            <a:r>
              <a:rPr lang="en-US" sz="2000" b="0" strike="noStrike" spc="-1">
                <a:solidFill>
                  <a:srgbClr val="000000"/>
                </a:solidFill>
                <a:latin typeface="Times New Roman" panose="02020603050405020304" pitchFamily="18" charset="0"/>
                <a:ea typeface="MS PGothic"/>
                <a:cs typeface="Times New Roman" panose="02020603050405020304" pitchFamily="18" charset="0"/>
              </a:rPr>
              <a:t>2210990442</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a:solidFill>
                  <a:srgbClr val="000000"/>
                </a:solidFill>
                <a:latin typeface="Times New Roman" panose="02020603050405020304" pitchFamily="18" charset="0"/>
                <a:ea typeface="MS PGothic"/>
                <a:cs typeface="Times New Roman" panose="02020603050405020304" pitchFamily="18" charset="0"/>
              </a:rPr>
              <a:t>Dr. Preeti Saini</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251629" y="71967"/>
            <a:ext cx="7042937" cy="837720"/>
          </a:xfrm>
          <a:prstGeom prst="rect">
            <a:avLst/>
          </a:prstGeom>
          <a:noFill/>
          <a:ln w="9360">
            <a:noFill/>
          </a:ln>
        </p:spPr>
        <p:txBody>
          <a:bodyPr anchor="ctr">
            <a:noAutofit/>
          </a:bodyPr>
          <a:lstStyle/>
          <a:p>
            <a:pPr algn="ctr"/>
            <a:r>
              <a:rPr lang="en" sz="3000">
                <a:latin typeface="Times New Roman" panose="02020603050405020304" pitchFamily="18" charset="0"/>
                <a:cs typeface="Times New Roman" panose="02020603050405020304" pitchFamily="18" charset="0"/>
              </a:rPr>
              <a:t>Introduction – Monolith vs Microservice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IN" sz="2000">
                <a:latin typeface="Times New Roman" panose="02020603050405020304" pitchFamily="18" charset="0"/>
                <a:cs typeface="Times New Roman" panose="02020603050405020304" pitchFamily="18" charset="0"/>
              </a:rPr>
              <a:t>A </a:t>
            </a:r>
            <a:r>
              <a:rPr lang="en-IN" sz="2000" b="1">
                <a:latin typeface="Times New Roman" panose="02020603050405020304" pitchFamily="18" charset="0"/>
                <a:cs typeface="Times New Roman" panose="02020603050405020304" pitchFamily="18" charset="0"/>
              </a:rPr>
              <a:t>monolithic</a:t>
            </a:r>
            <a:r>
              <a:rPr lang="en-IN" sz="2000">
                <a:latin typeface="Times New Roman" panose="02020603050405020304" pitchFamily="18" charset="0"/>
                <a:cs typeface="Times New Roman" panose="02020603050405020304" pitchFamily="18" charset="0"/>
              </a:rPr>
              <a:t> application keeps all features in one codebase and one deployment. It is easy to start with, but scaling is inefficient because the whole app must be copied even when only one part is busy. A failure in one module can affect the entire system.</a:t>
            </a:r>
          </a:p>
          <a:p>
            <a:endParaRPr lang="en-IN" sz="2000">
              <a:latin typeface="Times New Roman" panose="02020603050405020304" pitchFamily="18" charset="0"/>
              <a:cs typeface="Times New Roman" panose="02020603050405020304" pitchFamily="18" charset="0"/>
            </a:endParaRPr>
          </a:p>
          <a:p>
            <a:r>
              <a:rPr lang="en-IN" sz="2000" b="1">
                <a:latin typeface="Times New Roman" panose="02020603050405020304" pitchFamily="18" charset="0"/>
                <a:cs typeface="Times New Roman" panose="02020603050405020304" pitchFamily="18" charset="0"/>
              </a:rPr>
              <a:t>Microservices</a:t>
            </a:r>
            <a:r>
              <a:rPr lang="en-IN" sz="2000">
                <a:latin typeface="Times New Roman" panose="02020603050405020304" pitchFamily="18" charset="0"/>
                <a:cs typeface="Times New Roman" panose="02020603050405020304" pitchFamily="18" charset="0"/>
              </a:rPr>
              <a:t> split the application into small, independent services such as User, Order, and Payment. Each service can be deployed and scaled on its own, which improves fault isolation. The trade-off is complexity: one user action may cross several services over the network, so problems are harder to trace. Modern backends in e-commerce, banking, and cloud platforms rely on this model, which makes good observability essential.</a:t>
            </a: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0B0A-0CEE-A388-B964-AA5181D147E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2BF116E-53FA-3E62-2057-711EFFE2C65F}"/>
              </a:ext>
            </a:extLst>
          </p:cNvPr>
          <p:cNvSpPr txBox="1"/>
          <p:nvPr/>
        </p:nvSpPr>
        <p:spPr>
          <a:xfrm>
            <a:off x="0" y="67919"/>
            <a:ext cx="7042937" cy="837720"/>
          </a:xfrm>
          <a:prstGeom prst="rect">
            <a:avLst/>
          </a:prstGeom>
          <a:noFill/>
          <a:ln w="9360">
            <a:noFill/>
          </a:ln>
        </p:spPr>
        <p:txBody>
          <a:bodyPr anchor="ctr">
            <a:noAutofit/>
          </a:bodyPr>
          <a:lstStyle/>
          <a:p>
            <a:r>
              <a:rPr lang="en-IN" sz="3000">
                <a:latin typeface="Times New Roman" panose="02020603050405020304" pitchFamily="18" charset="0"/>
                <a:cs typeface="Times New Roman" panose="02020603050405020304" pitchFamily="18" charset="0"/>
              </a:rPr>
              <a:t>P</a:t>
            </a:r>
            <a:r>
              <a:rPr lang="en" sz="3000">
                <a:latin typeface="Times New Roman" panose="02020603050405020304" pitchFamily="18" charset="0"/>
                <a:cs typeface="Times New Roman" panose="02020603050405020304" pitchFamily="18" charset="0"/>
              </a:rPr>
              <a:t>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83C60FF-C0D6-D9B3-7390-C1CEF064060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4EB58BB5-A6E6-2C0C-629F-119F4AF79470}"/>
              </a:ext>
            </a:extLst>
          </p:cNvPr>
          <p:cNvSpPr txBox="1"/>
          <p:nvPr/>
        </p:nvSpPr>
        <p:spPr>
          <a:xfrm>
            <a:off x="164008" y="1109742"/>
            <a:ext cx="8838720" cy="4838571"/>
          </a:xfrm>
          <a:prstGeom prst="rect">
            <a:avLst/>
          </a:prstGeom>
          <a:noFill/>
          <a:ln w="9360">
            <a:noFill/>
          </a:ln>
        </p:spPr>
        <p:txBody>
          <a:bodyPr>
            <a:noAutofit/>
          </a:bodyPr>
          <a:lstStyle/>
          <a:p>
            <a:r>
              <a:rPr lang="en-IN" sz="2000">
                <a:latin typeface="Times New Roman" panose="02020603050405020304" pitchFamily="18" charset="0"/>
                <a:cs typeface="Times New Roman" panose="02020603050405020304" pitchFamily="18" charset="0"/>
              </a:rPr>
              <a:t>Distributed backends are difficult to monitor with traditional approaches that focus only on CPU, memory, and uptime. In a checkout flow, a single request may pass through an API gateway, user service, order service, and payment service. Failures are often subtle—a slow payment service, extra network delay, high traffic, or CPU and memory pressure—and they do not always show up as a clear error on one dashboard.</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Logs alone are hard to correlate across services. Metrics may show that latency increased but not which service caused it. Teams need to detect problems quickly (mean time to detection, MTTD) and recover faster (mean time to recovery, MTTR). This project evaluates observability tools—Prometheus, Grafana, Jaeger, OpenTelemetry, and Datadog—on a realistic microservices testbed under controlled failure scenarios.</a:t>
            </a:r>
          </a:p>
        </p:txBody>
      </p:sp>
    </p:spTree>
    <p:extLst>
      <p:ext uri="{BB962C8B-B14F-4D97-AF65-F5344CB8AC3E}">
        <p14:creationId xmlns:p14="http://schemas.microsoft.com/office/powerpoint/2010/main" val="3376483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35BFE-14A2-2173-67D0-EE351FE142B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D3A8461-35B8-3E30-D090-A0E9F4559F57}"/>
              </a:ext>
            </a:extLst>
          </p:cNvPr>
          <p:cNvSpPr txBox="1"/>
          <p:nvPr/>
        </p:nvSpPr>
        <p:spPr>
          <a:xfrm>
            <a:off x="0" y="67919"/>
            <a:ext cx="7042937" cy="837720"/>
          </a:xfrm>
          <a:prstGeom prst="rect">
            <a:avLst/>
          </a:prstGeom>
          <a:noFill/>
          <a:ln w="9360">
            <a:noFill/>
          </a:ln>
        </p:spPr>
        <p:txBody>
          <a:bodyPr anchor="ctr">
            <a:noAutofit/>
          </a:bodyPr>
          <a:lstStyle/>
          <a:p>
            <a:r>
              <a:rPr lang="en-IN" sz="3000" b="0" strike="noStrike" spc="-1">
                <a:solidFill>
                  <a:srgbClr val="000000"/>
                </a:solidFill>
                <a:latin typeface="Times New Roman" panose="02020603050405020304" pitchFamily="18" charset="0"/>
                <a:cs typeface="Times New Roman" panose="02020603050405020304" pitchFamily="18" charset="0"/>
              </a:rPr>
              <a:t>Observability and its pillars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7CD47DD-063A-33EF-A35C-824A76505B6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DB1B8E74-9EC2-5EED-5F50-1CE73EC9D2FB}"/>
              </a:ext>
            </a:extLst>
          </p:cNvPr>
          <p:cNvSpPr txBox="1"/>
          <p:nvPr/>
        </p:nvSpPr>
        <p:spPr>
          <a:xfrm>
            <a:off x="164008" y="1109742"/>
            <a:ext cx="8838720" cy="4838571"/>
          </a:xfrm>
          <a:prstGeom prst="rect">
            <a:avLst/>
          </a:prstGeom>
          <a:noFill/>
          <a:ln w="9360">
            <a:noFill/>
          </a:ln>
        </p:spPr>
        <p:txBody>
          <a:bodyPr>
            <a:noAutofit/>
          </a:bodyPr>
          <a:lstStyle/>
          <a:p>
            <a:r>
              <a:rPr lang="en-IN" sz="2000" b="1">
                <a:latin typeface="Times New Roman" panose="02020603050405020304" pitchFamily="18" charset="0"/>
                <a:cs typeface="Times New Roman" panose="02020603050405020304" pitchFamily="18" charset="0"/>
              </a:rPr>
              <a:t>Observability</a:t>
            </a:r>
            <a:r>
              <a:rPr lang="en-IN" sz="2000">
                <a:latin typeface="Times New Roman" panose="02020603050405020304" pitchFamily="18" charset="0"/>
                <a:cs typeface="Times New Roman" panose="02020603050405020304" pitchFamily="18" charset="0"/>
              </a:rPr>
              <a:t> is the ability to understand what is happening inside a system by looking at the data it produces, without guessing or redeploying code for every new question. </a:t>
            </a:r>
          </a:p>
          <a:p>
            <a:r>
              <a:rPr lang="en-IN" sz="2000">
                <a:latin typeface="Times New Roman" panose="02020603050405020304" pitchFamily="18" charset="0"/>
                <a:cs typeface="Times New Roman" panose="02020603050405020304" pitchFamily="18" charset="0"/>
              </a:rPr>
              <a:t>It rests on three complementary pillars-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Logs</a:t>
            </a:r>
            <a:r>
              <a:rPr lang="en-IN" sz="2000">
                <a:latin typeface="Times New Roman" panose="02020603050405020304" pitchFamily="18" charset="0"/>
                <a:cs typeface="Times New Roman" panose="02020603050405020304" pitchFamily="18" charset="0"/>
              </a:rPr>
              <a:t> are detailed records of events (errors, warnings, request details). They answer </a:t>
            </a:r>
            <a:r>
              <a:rPr lang="en-IN" sz="2000" i="1">
                <a:latin typeface="Times New Roman" panose="02020603050405020304" pitchFamily="18" charset="0"/>
                <a:cs typeface="Times New Roman" panose="02020603050405020304" pitchFamily="18" charset="0"/>
              </a:rPr>
              <a:t>what happened</a:t>
            </a:r>
            <a:r>
              <a:rPr lang="en-IN" sz="2000">
                <a:latin typeface="Times New Roman" panose="02020603050405020304" pitchFamily="18" charset="0"/>
                <a:cs typeface="Times New Roman" panose="02020603050405020304" pitchFamily="18" charset="0"/>
              </a:rPr>
              <a:t> at a point in time but can be hard to connect across many services.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Metrics</a:t>
            </a:r>
            <a:r>
              <a:rPr lang="en-IN" sz="2000">
                <a:latin typeface="Times New Roman" panose="02020603050405020304" pitchFamily="18" charset="0"/>
                <a:cs typeface="Times New Roman" panose="02020603050405020304" pitchFamily="18" charset="0"/>
              </a:rPr>
              <a:t> are numeric measurements over time (latency, error rate, throughput, CPU). They are ideal for dashboards, trends, and alerts when values cross a threshold.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Traces</a:t>
            </a:r>
            <a:r>
              <a:rPr lang="en-IN" sz="2000">
                <a:latin typeface="Times New Roman" panose="02020603050405020304" pitchFamily="18" charset="0"/>
                <a:cs typeface="Times New Roman" panose="02020603050405020304" pitchFamily="18" charset="0"/>
              </a:rPr>
              <a:t> follow one request end to end across services and show </a:t>
            </a:r>
            <a:r>
              <a:rPr lang="en-IN" sz="2000" i="1">
                <a:latin typeface="Times New Roman" panose="02020603050405020304" pitchFamily="18" charset="0"/>
                <a:cs typeface="Times New Roman" panose="02020603050405020304" pitchFamily="18" charset="0"/>
              </a:rPr>
              <a:t>where</a:t>
            </a:r>
            <a:r>
              <a:rPr lang="en-IN" sz="2000">
                <a:latin typeface="Times New Roman" panose="02020603050405020304" pitchFamily="18" charset="0"/>
                <a:cs typeface="Times New Roman" panose="02020603050405020304" pitchFamily="18" charset="0"/>
              </a:rPr>
              <a:t> time was spent (gateway → user → order → payment). Traces are especially valuable in microservices, where a single user action crosses several hops.</a:t>
            </a:r>
          </a:p>
        </p:txBody>
      </p:sp>
    </p:spTree>
    <p:extLst>
      <p:ext uri="{BB962C8B-B14F-4D97-AF65-F5344CB8AC3E}">
        <p14:creationId xmlns:p14="http://schemas.microsoft.com/office/powerpoint/2010/main" val="3742505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987F3-7AC5-58DC-7958-6A9CF54CBF8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D9055B3-265A-67E2-752C-E7D66C11CCE8}"/>
              </a:ext>
            </a:extLst>
          </p:cNvPr>
          <p:cNvSpPr txBox="1"/>
          <p:nvPr/>
        </p:nvSpPr>
        <p:spPr>
          <a:xfrm>
            <a:off x="0" y="67919"/>
            <a:ext cx="7042937" cy="837720"/>
          </a:xfrm>
          <a:prstGeom prst="rect">
            <a:avLst/>
          </a:prstGeom>
          <a:noFill/>
          <a:ln w="9360">
            <a:noFill/>
          </a:ln>
        </p:spPr>
        <p:txBody>
          <a:bodyPr anchor="ctr">
            <a:noAutofit/>
          </a:bodyPr>
          <a:lstStyle/>
          <a:p>
            <a:r>
              <a:rPr lang="en-IN" sz="3000" b="0" strike="noStrike" spc="-1">
                <a:solidFill>
                  <a:srgbClr val="000000"/>
                </a:solidFill>
                <a:latin typeface="Times New Roman" panose="02020603050405020304" pitchFamily="18" charset="0"/>
                <a:cs typeface="Times New Roman" panose="02020603050405020304" pitchFamily="18" charset="0"/>
              </a:rPr>
              <a:t>Observability Tools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58872FE-E958-FE2F-8EE8-AB2E5D01E66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8ED185AC-7573-B435-2CF3-65836DCE9EF1}"/>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OpenTelemetry</a:t>
            </a:r>
            <a:r>
              <a:rPr lang="en-IN" sz="2000">
                <a:latin typeface="Times New Roman" panose="02020603050405020304" pitchFamily="18" charset="0"/>
                <a:cs typeface="Times New Roman" panose="02020603050405020304" pitchFamily="18" charset="0"/>
              </a:rPr>
              <a:t> provides a standard way to collect traces and metrics from all services, so instrumentation is consistent across the stack.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Prometheus</a:t>
            </a:r>
            <a:r>
              <a:rPr lang="en-IN" sz="2000">
                <a:latin typeface="Times New Roman" panose="02020603050405020304" pitchFamily="18" charset="0"/>
                <a:cs typeface="Times New Roman" panose="02020603050405020304" pitchFamily="18" charset="0"/>
              </a:rPr>
              <a:t> is a pull-based metrics system that stores time-series data such as latency, errors, and resource use, and it supports alerting rules.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Grafana</a:t>
            </a:r>
            <a:r>
              <a:rPr lang="en-IN" sz="2000">
                <a:latin typeface="Times New Roman" panose="02020603050405020304" pitchFamily="18" charset="0"/>
                <a:cs typeface="Times New Roman" panose="02020603050405020304" pitchFamily="18" charset="0"/>
              </a:rPr>
              <a:t> offers dashboards and charts to visualize Prometheus metrics and Jaeger traces in one place.</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Jaeger</a:t>
            </a:r>
            <a:r>
              <a:rPr lang="en-IN" sz="2000">
                <a:latin typeface="Times New Roman" panose="02020603050405020304" pitchFamily="18" charset="0"/>
                <a:cs typeface="Times New Roman" panose="02020603050405020304" pitchFamily="18" charset="0"/>
              </a:rPr>
              <a:t> supports distributed tracing by showing the full path of a request and highlighting which service was slow.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Datadog</a:t>
            </a:r>
            <a:r>
              <a:rPr lang="en-IN" sz="2000">
                <a:latin typeface="Times New Roman" panose="02020603050405020304" pitchFamily="18" charset="0"/>
                <a:cs typeface="Times New Roman" panose="02020603050405020304" pitchFamily="18" charset="0"/>
              </a:rPr>
              <a:t> is an optional commercial platform that combines metrics, traces, logs, and automated alerts in a single interface. </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Together, these tools represent the three pillars of observability: metrics, traces, and logs.</a:t>
            </a:r>
          </a:p>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60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11076-2135-0AD4-AEB7-86BCDE0B1C9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E1EFBC8-DD73-750A-435A-43E735A8B325}"/>
              </a:ext>
            </a:extLst>
          </p:cNvPr>
          <p:cNvSpPr txBox="1"/>
          <p:nvPr/>
        </p:nvSpPr>
        <p:spPr>
          <a:xfrm>
            <a:off x="0" y="67919"/>
            <a:ext cx="7042937" cy="837720"/>
          </a:xfrm>
          <a:prstGeom prst="rect">
            <a:avLst/>
          </a:prstGeom>
          <a:noFill/>
          <a:ln w="9360">
            <a:noFill/>
          </a:ln>
        </p:spPr>
        <p:txBody>
          <a:bodyPr anchor="ctr">
            <a:noAutofit/>
          </a:bodyPr>
          <a:lstStyle/>
          <a:p>
            <a:r>
              <a:rPr lang="en-IN" sz="3000" spc="-1">
                <a:solidFill>
                  <a:srgbClr val="000000"/>
                </a:solidFill>
                <a:latin typeface="Times New Roman" panose="02020603050405020304" pitchFamily="18" charset="0"/>
                <a:cs typeface="Times New Roman" panose="02020603050405020304" pitchFamily="18" charset="0"/>
              </a:rPr>
              <a:t>Architecture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8265CFD-EB88-A91F-432D-F98471A0194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06DCDC28-61D9-142F-2BDE-5FF037B3AAA3}"/>
              </a:ext>
            </a:extLst>
          </p:cNvPr>
          <p:cNvSpPr txBox="1"/>
          <p:nvPr/>
        </p:nvSpPr>
        <p:spPr>
          <a:xfrm>
            <a:off x="164008" y="1109742"/>
            <a:ext cx="8838720" cy="4838571"/>
          </a:xfrm>
          <a:prstGeom prst="rect">
            <a:avLst/>
          </a:prstGeom>
          <a:noFill/>
          <a:ln w="9360">
            <a:noFill/>
          </a:ln>
        </p:spPr>
        <p:txBody>
          <a:bodyPr>
            <a:noAutofit/>
          </a:bodyPr>
          <a:lstStyle/>
          <a:p>
            <a:r>
              <a:rPr lang="en-IN" sz="2000">
                <a:latin typeface="Times New Roman" panose="02020603050405020304" pitchFamily="18" charset="0"/>
                <a:cs typeface="Times New Roman" panose="02020603050405020304" pitchFamily="18" charset="0"/>
              </a:rPr>
              <a:t>All services send telemetry to an </a:t>
            </a:r>
            <a:r>
              <a:rPr lang="en-IN" sz="2000" b="1">
                <a:latin typeface="Times New Roman" panose="02020603050405020304" pitchFamily="18" charset="0"/>
                <a:cs typeface="Times New Roman" panose="02020603050405020304" pitchFamily="18" charset="0"/>
              </a:rPr>
              <a:t>OpenTelemetry Collector</a:t>
            </a:r>
            <a:r>
              <a:rPr lang="en-IN" sz="2000">
                <a:latin typeface="Times New Roman" panose="02020603050405020304" pitchFamily="18" charset="0"/>
                <a:cs typeface="Times New Roman" panose="02020603050405020304" pitchFamily="18" charset="0"/>
              </a:rPr>
              <a:t>, which forwards </a:t>
            </a:r>
            <a:r>
              <a:rPr lang="en-IN" sz="2000" b="1">
                <a:latin typeface="Times New Roman" panose="02020603050405020304" pitchFamily="18" charset="0"/>
                <a:cs typeface="Times New Roman" panose="02020603050405020304" pitchFamily="18" charset="0"/>
              </a:rPr>
              <a:t>metrics</a:t>
            </a:r>
            <a:r>
              <a:rPr lang="en-IN" sz="2000">
                <a:latin typeface="Times New Roman" panose="02020603050405020304" pitchFamily="18" charset="0"/>
                <a:cs typeface="Times New Roman" panose="02020603050405020304" pitchFamily="18" charset="0"/>
              </a:rPr>
              <a:t> to </a:t>
            </a:r>
            <a:r>
              <a:rPr lang="en-IN" sz="2000" b="1">
                <a:latin typeface="Times New Roman" panose="02020603050405020304" pitchFamily="18" charset="0"/>
                <a:cs typeface="Times New Roman" panose="02020603050405020304" pitchFamily="18" charset="0"/>
              </a:rPr>
              <a:t>Prometheus</a:t>
            </a:r>
            <a:r>
              <a:rPr lang="en-IN" sz="2000">
                <a:latin typeface="Times New Roman" panose="02020603050405020304" pitchFamily="18" charset="0"/>
                <a:cs typeface="Times New Roman" panose="02020603050405020304" pitchFamily="18" charset="0"/>
              </a:rPr>
              <a:t> and </a:t>
            </a:r>
            <a:r>
              <a:rPr lang="en-IN" sz="2000" b="1">
                <a:latin typeface="Times New Roman" panose="02020603050405020304" pitchFamily="18" charset="0"/>
                <a:cs typeface="Times New Roman" panose="02020603050405020304" pitchFamily="18" charset="0"/>
              </a:rPr>
              <a:t>traces</a:t>
            </a:r>
            <a:r>
              <a:rPr lang="en-IN" sz="2000">
                <a:latin typeface="Times New Roman" panose="02020603050405020304" pitchFamily="18" charset="0"/>
                <a:cs typeface="Times New Roman" panose="02020603050405020304" pitchFamily="18" charset="0"/>
              </a:rPr>
              <a:t> to </a:t>
            </a:r>
            <a:r>
              <a:rPr lang="en-IN" sz="2000" b="1">
                <a:latin typeface="Times New Roman" panose="02020603050405020304" pitchFamily="18" charset="0"/>
                <a:cs typeface="Times New Roman" panose="02020603050405020304" pitchFamily="18" charset="0"/>
              </a:rPr>
              <a:t>Jaeger</a:t>
            </a:r>
            <a:r>
              <a:rPr lang="en-IN" sz="2000">
                <a:latin typeface="Times New Roman" panose="02020603050405020304" pitchFamily="18" charset="0"/>
                <a:cs typeface="Times New Roman" panose="02020603050405020304" pitchFamily="18" charset="0"/>
              </a:rPr>
              <a:t>. </a:t>
            </a:r>
            <a:r>
              <a:rPr lang="en-IN" sz="2000" b="1">
                <a:latin typeface="Times New Roman" panose="02020603050405020304" pitchFamily="18" charset="0"/>
                <a:cs typeface="Times New Roman" panose="02020603050405020304" pitchFamily="18" charset="0"/>
              </a:rPr>
              <a:t>Grafana</a:t>
            </a:r>
            <a:r>
              <a:rPr lang="en-IN" sz="2000">
                <a:latin typeface="Times New Roman" panose="02020603050405020304" pitchFamily="18" charset="0"/>
                <a:cs typeface="Times New Roman" panose="02020603050405020304" pitchFamily="18" charset="0"/>
              </a:rPr>
              <a:t> queries both backends for visualization. Optionally, data can also be sent to </a:t>
            </a:r>
            <a:r>
              <a:rPr lang="en-IN" sz="2000" b="1">
                <a:latin typeface="Times New Roman" panose="02020603050405020304" pitchFamily="18" charset="0"/>
                <a:cs typeface="Times New Roman" panose="02020603050405020304" pitchFamily="18" charset="0"/>
              </a:rPr>
              <a:t>Datadog</a:t>
            </a:r>
            <a:r>
              <a:rPr lang="en-IN" sz="2000">
                <a:latin typeface="Times New Roman" panose="02020603050405020304" pitchFamily="18" charset="0"/>
                <a:cs typeface="Times New Roman" panose="02020603050405020304" pitchFamily="18" charset="0"/>
              </a:rPr>
              <a:t> for comparison with a unified commercial stack.</a:t>
            </a:r>
          </a:p>
        </p:txBody>
      </p:sp>
      <p:pic>
        <p:nvPicPr>
          <p:cNvPr id="2" name="Picture 1">
            <a:extLst>
              <a:ext uri="{FF2B5EF4-FFF2-40B4-BE49-F238E27FC236}">
                <a16:creationId xmlns:a16="http://schemas.microsoft.com/office/drawing/2014/main" id="{71234075-F911-9FA5-9745-9F99B7C8BA81}"/>
              </a:ext>
            </a:extLst>
          </p:cNvPr>
          <p:cNvPicPr>
            <a:picLocks noChangeAspect="1"/>
          </p:cNvPicPr>
          <p:nvPr/>
        </p:nvPicPr>
        <p:blipFill>
          <a:blip r:embed="rId2"/>
          <a:srcRect b="14661"/>
          <a:stretch>
            <a:fillRect/>
          </a:stretch>
        </p:blipFill>
        <p:spPr>
          <a:xfrm>
            <a:off x="914400" y="3311525"/>
            <a:ext cx="7315200" cy="1712420"/>
          </a:xfrm>
          <a:prstGeom prst="rect">
            <a:avLst/>
          </a:prstGeom>
        </p:spPr>
      </p:pic>
    </p:spTree>
    <p:extLst>
      <p:ext uri="{BB962C8B-B14F-4D97-AF65-F5344CB8AC3E}">
        <p14:creationId xmlns:p14="http://schemas.microsoft.com/office/powerpoint/2010/main" val="35383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2632-64A6-5BFA-8E63-C02939A13B8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F4B2367-EFD0-BF1B-474E-863500F6644C}"/>
              </a:ext>
            </a:extLst>
          </p:cNvPr>
          <p:cNvSpPr txBox="1"/>
          <p:nvPr/>
        </p:nvSpPr>
        <p:spPr>
          <a:xfrm>
            <a:off x="0" y="71967"/>
            <a:ext cx="7042937" cy="837720"/>
          </a:xfrm>
          <a:prstGeom prst="rect">
            <a:avLst/>
          </a:prstGeom>
          <a:noFill/>
          <a:ln w="9360">
            <a:noFill/>
          </a:ln>
        </p:spPr>
        <p:txBody>
          <a:bodyPr anchor="ctr">
            <a:noAutofit/>
          </a:bodyPr>
          <a:lstStyle/>
          <a:p>
            <a:r>
              <a:rPr lang="en-US" sz="3000" b="0" strike="noStrike" spc="-1">
                <a:solidFill>
                  <a:srgbClr val="000000"/>
                </a:solidFill>
                <a:latin typeface="Times New Roman" panose="02020603050405020304" pitchFamily="18" charset="0"/>
                <a:cs typeface="Times New Roman" panose="02020603050405020304" pitchFamily="18" charset="0"/>
              </a:rPr>
              <a:t>Failure Scenarios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8964B5B-7B4D-52A2-DD9B-76A1752E35A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EE39ECA9-422F-D672-6BEF-949485475AD7}"/>
              </a:ext>
            </a:extLst>
          </p:cNvPr>
          <p:cNvSpPr txBox="1"/>
          <p:nvPr/>
        </p:nvSpPr>
        <p:spPr>
          <a:xfrm>
            <a:off x="164008" y="1109742"/>
            <a:ext cx="8838720" cy="4838571"/>
          </a:xfrm>
          <a:prstGeom prst="rect">
            <a:avLst/>
          </a:prstGeom>
          <a:noFill/>
          <a:ln w="9360">
            <a:noFill/>
          </a:ln>
        </p:spPr>
        <p:txBody>
          <a:bodyPr>
            <a:noAutofit/>
          </a:bodyPr>
          <a:lstStyle/>
          <a:p>
            <a:r>
              <a:rPr lang="en-IN" sz="2000">
                <a:latin typeface="Times New Roman" panose="02020603050405020304" pitchFamily="18" charset="0"/>
                <a:cs typeface="Times New Roman" panose="02020603050405020304" pitchFamily="18" charset="0"/>
              </a:rPr>
              <a:t>Experiments use six scenarios to test the system under known conditions.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S0</a:t>
            </a:r>
            <a:r>
              <a:rPr lang="en-IN" sz="2000">
                <a:latin typeface="Times New Roman" panose="02020603050405020304" pitchFamily="18" charset="0"/>
                <a:cs typeface="Times New Roman" panose="02020603050405020304" pitchFamily="18" charset="0"/>
              </a:rPr>
              <a:t> is the healthy baseline with no injected fault.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S1</a:t>
            </a:r>
            <a:r>
              <a:rPr lang="en-IN" sz="2000">
                <a:latin typeface="Times New Roman" panose="02020603050405020304" pitchFamily="18" charset="0"/>
                <a:cs typeface="Times New Roman" panose="02020603050405020304" pitchFamily="18" charset="0"/>
              </a:rPr>
              <a:t> applies high load using k6, from about 500 to 2000 requests per second, to study performance under stress.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S2</a:t>
            </a:r>
            <a:r>
              <a:rPr lang="en-IN" sz="2000">
                <a:latin typeface="Times New Roman" panose="02020603050405020304" pitchFamily="18" charset="0"/>
                <a:cs typeface="Times New Roman" panose="02020603050405020304" pitchFamily="18" charset="0"/>
              </a:rPr>
              <a:t> injects a 300 ms delay in the payment service to simulate a slow dependency.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S3</a:t>
            </a:r>
            <a:r>
              <a:rPr lang="en-IN" sz="2000">
                <a:latin typeface="Times New Roman" panose="02020603050405020304" pitchFamily="18" charset="0"/>
                <a:cs typeface="Times New Roman" panose="02020603050405020304" pitchFamily="18" charset="0"/>
              </a:rPr>
              <a:t> adds network delay on calls from order to payment to model transport-level slowness. </a:t>
            </a:r>
          </a:p>
          <a:p>
            <a:pPr marL="342900" indent="-342900">
              <a:buFont typeface="Arial" panose="020B0604020202020204" pitchFamily="34" charset="0"/>
              <a:buChar char="•"/>
            </a:pPr>
            <a:r>
              <a:rPr lang="en-IN" sz="2000" b="1">
                <a:latin typeface="Times New Roman" panose="02020603050405020304" pitchFamily="18" charset="0"/>
                <a:cs typeface="Times New Roman" panose="02020603050405020304" pitchFamily="18" charset="0"/>
              </a:rPr>
              <a:t>S4</a:t>
            </a:r>
            <a:r>
              <a:rPr lang="en-IN" sz="2000">
                <a:latin typeface="Times New Roman" panose="02020603050405020304" pitchFamily="18" charset="0"/>
                <a:cs typeface="Times New Roman" panose="02020603050405020304" pitchFamily="18" charset="0"/>
              </a:rPr>
              <a:t> and </a:t>
            </a:r>
            <a:r>
              <a:rPr lang="en-IN" sz="2000" b="1">
                <a:latin typeface="Times New Roman" panose="02020603050405020304" pitchFamily="18" charset="0"/>
                <a:cs typeface="Times New Roman" panose="02020603050405020304" pitchFamily="18" charset="0"/>
              </a:rPr>
              <a:t>S5</a:t>
            </a:r>
            <a:r>
              <a:rPr lang="en-IN" sz="2000">
                <a:latin typeface="Times New Roman" panose="02020603050405020304" pitchFamily="18" charset="0"/>
                <a:cs typeface="Times New Roman" panose="02020603050405020304" pitchFamily="18" charset="0"/>
              </a:rPr>
              <a:t> use LitmusChaos on Kubernetes to create CPU and memory pressure.</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For each scenario we measure end-to-end latency (mean and percentiles), how quickly problems are detected (MTTD), and how quickly they are resolved (MTTR), comparing runs with full observability against manual debugging without integrated traces and dashboards.</a:t>
            </a:r>
          </a:p>
        </p:txBody>
      </p:sp>
    </p:spTree>
    <p:extLst>
      <p:ext uri="{BB962C8B-B14F-4D97-AF65-F5344CB8AC3E}">
        <p14:creationId xmlns:p14="http://schemas.microsoft.com/office/powerpoint/2010/main" val="1068207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5B133-B885-91A0-9F99-E5B1DC08C4F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1AABE60-8E14-916D-62A4-282BA72DA9EB}"/>
              </a:ext>
            </a:extLst>
          </p:cNvPr>
          <p:cNvSpPr txBox="1"/>
          <p:nvPr/>
        </p:nvSpPr>
        <p:spPr>
          <a:xfrm>
            <a:off x="0" y="71967"/>
            <a:ext cx="7042937" cy="837720"/>
          </a:xfrm>
          <a:prstGeom prst="rect">
            <a:avLst/>
          </a:prstGeom>
          <a:noFill/>
          <a:ln w="9360">
            <a:noFill/>
          </a:ln>
        </p:spPr>
        <p:txBody>
          <a:bodyPr anchor="ctr">
            <a:noAutofit/>
          </a:bodyPr>
          <a:lstStyle/>
          <a:p>
            <a:r>
              <a:rPr lang="en-US" sz="3000" b="0" strike="noStrike" spc="-1">
                <a:solidFill>
                  <a:srgbClr val="000000"/>
                </a:solidFill>
                <a:latin typeface="Times New Roman" panose="02020603050405020304" pitchFamily="18" charset="0"/>
                <a:cs typeface="Times New Roman" panose="02020603050405020304" pitchFamily="18" charset="0"/>
              </a:rPr>
              <a:t>MTTD and MTTR metrics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3D2CBA16-9859-302D-2C80-9AD698C3D5B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8FB4DFD4-E532-77F5-795B-40558D209731}"/>
              </a:ext>
            </a:extLst>
          </p:cNvPr>
          <p:cNvSpPr txBox="1"/>
          <p:nvPr/>
        </p:nvSpPr>
        <p:spPr>
          <a:xfrm>
            <a:off x="164008" y="1109742"/>
            <a:ext cx="8838720" cy="4838571"/>
          </a:xfrm>
          <a:prstGeom prst="rect">
            <a:avLst/>
          </a:prstGeom>
          <a:noFill/>
          <a:ln w="9360">
            <a:noFill/>
          </a:ln>
        </p:spPr>
        <p:txBody>
          <a:bodyPr>
            <a:noAutofit/>
          </a:bodyPr>
          <a:lstStyle/>
          <a:p>
            <a:endParaRPr lang="en-IN" sz="20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1D3BA29-F447-53D4-9476-CFD5FFC5782B}"/>
              </a:ext>
            </a:extLst>
          </p:cNvPr>
          <p:cNvPicPr>
            <a:picLocks noChangeAspect="1"/>
          </p:cNvPicPr>
          <p:nvPr/>
        </p:nvPicPr>
        <p:blipFill>
          <a:blip r:embed="rId2"/>
          <a:srcRect b="13689"/>
          <a:stretch>
            <a:fillRect/>
          </a:stretch>
        </p:blipFill>
        <p:spPr>
          <a:xfrm>
            <a:off x="164008" y="2236693"/>
            <a:ext cx="4235180" cy="2584668"/>
          </a:xfrm>
          <a:prstGeom prst="rect">
            <a:avLst/>
          </a:prstGeom>
        </p:spPr>
      </p:pic>
      <p:pic>
        <p:nvPicPr>
          <p:cNvPr id="3" name="Picture 2">
            <a:extLst>
              <a:ext uri="{FF2B5EF4-FFF2-40B4-BE49-F238E27FC236}">
                <a16:creationId xmlns:a16="http://schemas.microsoft.com/office/drawing/2014/main" id="{BB93087B-1479-C2D8-B1CE-BF248D008FDE}"/>
              </a:ext>
            </a:extLst>
          </p:cNvPr>
          <p:cNvPicPr>
            <a:picLocks noChangeAspect="1"/>
          </p:cNvPicPr>
          <p:nvPr/>
        </p:nvPicPr>
        <p:blipFill>
          <a:blip r:embed="rId3"/>
          <a:srcRect b="13689"/>
          <a:stretch>
            <a:fillRect/>
          </a:stretch>
        </p:blipFill>
        <p:spPr>
          <a:xfrm>
            <a:off x="4583368" y="2236693"/>
            <a:ext cx="4235180" cy="2584668"/>
          </a:xfrm>
          <a:prstGeom prst="rect">
            <a:avLst/>
          </a:prstGeom>
        </p:spPr>
      </p:pic>
    </p:spTree>
    <p:extLst>
      <p:ext uri="{BB962C8B-B14F-4D97-AF65-F5344CB8AC3E}">
        <p14:creationId xmlns:p14="http://schemas.microsoft.com/office/powerpoint/2010/main" val="1420963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8B95F-8F73-5FF3-548D-34E0687486A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8F91F4A-EFEC-639A-7C7C-0B2C2B236002}"/>
              </a:ext>
            </a:extLst>
          </p:cNvPr>
          <p:cNvSpPr txBox="1"/>
          <p:nvPr/>
        </p:nvSpPr>
        <p:spPr>
          <a:xfrm>
            <a:off x="0" y="71967"/>
            <a:ext cx="7042937" cy="837720"/>
          </a:xfrm>
          <a:prstGeom prst="rect">
            <a:avLst/>
          </a:prstGeom>
          <a:noFill/>
          <a:ln w="9360">
            <a:noFill/>
          </a:ln>
        </p:spPr>
        <p:txBody>
          <a:bodyPr anchor="ctr">
            <a:noAutofit/>
          </a:bodyPr>
          <a:lstStyle/>
          <a:p>
            <a:r>
              <a:rPr lang="en-US" sz="3000" b="0" strike="noStrike" spc="-1">
                <a:solidFill>
                  <a:srgbClr val="000000"/>
                </a:solidFill>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9208B96-3125-6204-BBCF-9EDE3CC596C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F6484FC6-8EF4-067D-3E3C-A6C129B18B2A}"/>
              </a:ext>
            </a:extLst>
          </p:cNvPr>
          <p:cNvSpPr txBox="1"/>
          <p:nvPr/>
        </p:nvSpPr>
        <p:spPr>
          <a:xfrm>
            <a:off x="164008" y="1109742"/>
            <a:ext cx="8838720" cy="5246778"/>
          </a:xfrm>
          <a:prstGeom prst="rect">
            <a:avLst/>
          </a:prstGeom>
          <a:noFill/>
          <a:ln w="9360">
            <a:noFill/>
          </a:ln>
        </p:spPr>
        <p:txBody>
          <a:bodyPr>
            <a:noAutofit/>
          </a:bodyPr>
          <a:lstStyle/>
          <a:p>
            <a:r>
              <a:rPr lang="en-IN" sz="2000">
                <a:latin typeface="Times New Roman" panose="02020603050405020304" pitchFamily="18" charset="0"/>
                <a:cs typeface="Times New Roman" panose="02020603050405020304" pitchFamily="18" charset="0"/>
              </a:rPr>
              <a:t>The study shows that latency rises with load even when no fault is injected, which reflects normal queueing under stress. When faults are injected, integrated logs, metrics, and traces help locate the cause faster—for example, identifying the payment service as the bottleneck during payment delay. </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 our lab runs, observability-guided recovery reduced mean recovery time from about 45 minutes to about 12 minutes, a large improvement over manual log searching.</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No single tool provides complete visibility. A practical approach is to use </a:t>
            </a:r>
            <a:r>
              <a:rPr lang="en-IN" sz="2000" b="1">
                <a:latin typeface="Times New Roman" panose="02020603050405020304" pitchFamily="18" charset="0"/>
                <a:cs typeface="Times New Roman" panose="02020603050405020304" pitchFamily="18" charset="0"/>
              </a:rPr>
              <a:t>OpenTelemetry</a:t>
            </a:r>
            <a:r>
              <a:rPr lang="en-IN" sz="2000">
                <a:latin typeface="Times New Roman" panose="02020603050405020304" pitchFamily="18" charset="0"/>
                <a:cs typeface="Times New Roman" panose="02020603050405020304" pitchFamily="18" charset="0"/>
              </a:rPr>
              <a:t> for instrumentation and </a:t>
            </a:r>
            <a:r>
              <a:rPr lang="en-IN" sz="2000" b="1">
                <a:latin typeface="Times New Roman" panose="02020603050405020304" pitchFamily="18" charset="0"/>
                <a:cs typeface="Times New Roman" panose="02020603050405020304" pitchFamily="18" charset="0"/>
              </a:rPr>
              <a:t>Prometheus, Grafana, and Jaeger</a:t>
            </a:r>
            <a:r>
              <a:rPr lang="en-IN" sz="2000">
                <a:latin typeface="Times New Roman" panose="02020603050405020304" pitchFamily="18" charset="0"/>
                <a:cs typeface="Times New Roman" panose="02020603050405020304" pitchFamily="18" charset="0"/>
              </a:rPr>
              <a:t> for open-source observability, with </a:t>
            </a:r>
            <a:r>
              <a:rPr lang="en-IN" sz="2000" b="1">
                <a:latin typeface="Times New Roman" panose="02020603050405020304" pitchFamily="18" charset="0"/>
                <a:cs typeface="Times New Roman" panose="02020603050405020304" pitchFamily="18" charset="0"/>
              </a:rPr>
              <a:t>Datadog</a:t>
            </a:r>
            <a:r>
              <a:rPr lang="en-IN" sz="2000">
                <a:latin typeface="Times New Roman" panose="02020603050405020304" pitchFamily="18" charset="0"/>
                <a:cs typeface="Times New Roman" panose="02020603050405020304" pitchFamily="18" charset="0"/>
              </a:rPr>
              <a:t> as an option when unified alerting and correlation are required. </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Future work can include larger production-like tests, detailed cost and overhead analysis, and automated anomaly detection.</a:t>
            </a:r>
          </a:p>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251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34721</TotalTime>
  <Words>956</Words>
  <Application>Microsoft Macintosh PowerPoint</Application>
  <PresentationFormat>On-screen Show (4:3)</PresentationFormat>
  <Paragraphs>68</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Jasjeet Kaur Saini</cp:lastModifiedBy>
  <cp:revision>2300</cp:revision>
  <dcterms:created xsi:type="dcterms:W3CDTF">2010-04-09T07:36:15Z</dcterms:created>
  <dcterms:modified xsi:type="dcterms:W3CDTF">2026-05-19T06:46:02Z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